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</a:t>
            </a:r>
            <a:pPr indent="0" marL="0">
              <a:buNone/>
            </a:pPr>
            <a:r>
              <a:rPr lang="en-US" sz="1800" b="1" spc="-100" kern="0" dirty="0">
                <a:solidFill>
                  <a:srgbClr val="E84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939735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D6D3C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PRE-SEED · MAY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2286000"/>
            <a:ext cx="110029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i="1" spc="-200" kern="0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Code becomes a dark factory.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94360" y="3931920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build the contract layer above it.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484632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-20" kern="0" dirty="0">
                <a:solidFill>
                  <a:srgbClr val="D6D3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Cursor enabled </a:t>
            </a:r>
            <a:pPr indent="0" marL="0">
              <a:buNone/>
            </a:pPr>
            <a:r>
              <a:rPr lang="en-US" sz="1800" i="1" spc="-20" kern="0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vibe coding.</a:t>
            </a:r>
            <a:pPr indent="0" marL="0">
              <a:buNone/>
            </a:pPr>
            <a:r>
              <a:rPr lang="en-US" sz="1800" spc="-20" kern="0" dirty="0">
                <a:solidFill>
                  <a:srgbClr val="D6D3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VibeLoom enables </a:t>
            </a:r>
            <a:pPr indent="0" marL="0">
              <a:buNone/>
            </a:pPr>
            <a:r>
              <a:rPr lang="en-US" sz="1800" i="1" spc="-20" kern="0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agentic engineering.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598932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Ilya Baimetov, Founder</a:t>
            </a:r>
            <a:pPr indent="0" marL="0">
              <a:buNone/>
            </a:pPr>
            <a:r>
              <a:rPr lang="en-US" sz="1100" spc="40" kern="0" dirty="0">
                <a:solidFill>
                  <a:srgbClr val="D6D3C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ilya.baimetov@vibeloom.ai      vibeloom.ai      v0.3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3A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39735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ships slop.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code-gen in production: drift compounds, defects survive, velocity gains evaporate. Existing tooling optimizes the moment of generation; nothing governs what happens between cycles.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30175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i="1" spc="-400" kern="0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22.7%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5303520" y="3383280"/>
            <a:ext cx="6293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tracked AI-introduced issues survive at the latest revision.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302.6K commits across 6,299 production repos.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0" y="4983480"/>
            <a:ext cx="6293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3A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LIU ET AL., "AI-DEBT IN THE WILD" · arXiv:2603.28592 · MAR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577840"/>
            <a:ext cx="3484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3–5×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6035040"/>
            <a:ext cx="3484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velocity gain dissipates after 2 months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CMU · MSR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53458" y="5577840"/>
            <a:ext cx="3484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+30% / +41%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53458" y="6035040"/>
            <a:ext cx="3484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warnings / complexity post-Cursor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CMU · MSR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12557" y="5577840"/>
            <a:ext cx="3484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17%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12557" y="6035040"/>
            <a:ext cx="3484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in comprehension on AI work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Anthropic · O'Reilly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3A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39735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BET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Lights out for code.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is generated, regenerated, never maintained by hand. Humans operate one level up — at the contract.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3017520"/>
            <a:ext cx="5135728" cy="2743200"/>
          </a:xfrm>
          <a:prstGeom prst="rect">
            <a:avLst/>
          </a:prstGeom>
          <a:solidFill>
            <a:srgbClr val="F7F7F6"/>
          </a:solidFill>
          <a:ln w="9525">
            <a:solidFill>
              <a:srgbClr val="E6E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91840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5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· THE CURSOR ERA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Humans maintain code.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spc="-100" kern="0" dirty="0">
                <a:solidFill>
                  <a:srgbClr val="3A3A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~100,000 LOC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5120640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Reviewed, every cycle, every contributor. Drift compounds invisibly.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75808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i="1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6461608" y="3017520"/>
            <a:ext cx="5135728" cy="2743200"/>
          </a:xfrm>
          <a:prstGeom prst="rect">
            <a:avLst/>
          </a:prstGeom>
          <a:solidFill>
            <a:srgbClr val="FBE6EA"/>
          </a:solidFill>
          <a:ln w="9525">
            <a:solidFill>
              <a:srgbClr val="E840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1608" y="3017520"/>
            <a:ext cx="36576" cy="2743200"/>
          </a:xfrm>
          <a:prstGeom prst="rect">
            <a:avLst/>
          </a:prstGeom>
          <a:solidFill>
            <a:srgbClr val="E84057"/>
          </a:solidFill>
          <a:ln/>
        </p:spPr>
      </p:sp>
      <p:sp>
        <p:nvSpPr>
          <p:cNvPr id="14" name="Text 12"/>
          <p:cNvSpPr/>
          <p:nvPr/>
        </p:nvSpPr>
        <p:spPr>
          <a:xfrm>
            <a:off x="6781648" y="3291840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3A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DARK FACTORY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81648" y="365760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Factory ships code.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81648" y="42976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spc="-100" kern="0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~30 contract items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781648" y="5120640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once. Code regenerates deterministically. Drift detected before ship.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Cursor </a:t>
            </a:r>
            <a:pPr algn="ctr" indent="0" marL="0">
              <a:buNone/>
            </a:pPr>
            <a:r>
              <a:rPr lang="en-US" sz="1600" i="1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vibe coding</a:t>
            </a:r>
            <a:pPr algn="ctr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 VibeLoom </a:t>
            </a:r>
            <a:pPr algn="ctr" indent="0" marL="0">
              <a:buNone/>
            </a:pPr>
            <a:r>
              <a:rPr lang="en-US" sz="1600" i="1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agentic engineering</a:t>
            </a:r>
            <a:pPr algn="ctr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and the </a:t>
            </a:r>
            <a:pPr algn="ctr" indent="0" marL="0">
              <a:buNone/>
            </a:pPr>
            <a:r>
              <a:rPr lang="en-US" sz="1600" i="1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dark factory</a:t>
            </a:r>
            <a:pPr algn="ctr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 requires.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3A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39735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contract layer.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 + Skill + deterministic engine. Ships as a Claude Code / Codex Skill. Open source under MIT.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3108960"/>
            <a:ext cx="2579294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4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3108960"/>
            <a:ext cx="36576" cy="1463040"/>
          </a:xfrm>
          <a:prstGeom prst="rect">
            <a:avLst/>
          </a:prstGeom>
          <a:solidFill>
            <a:srgbClr val="E8405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3355848"/>
            <a:ext cx="16648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intent.md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21220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edits intent + approves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02254" y="3108960"/>
            <a:ext cx="2579294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4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2254" y="3108960"/>
            <a:ext cx="36576" cy="1463040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3" name="Text 11"/>
          <p:cNvSpPr/>
          <p:nvPr/>
        </p:nvSpPr>
        <p:spPr>
          <a:xfrm>
            <a:off x="3630854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5A5A5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179494" y="3355848"/>
            <a:ext cx="16648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regenerate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30854" y="3886200"/>
            <a:ext cx="21220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 produces architecture, code, tests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0148" y="3108960"/>
            <a:ext cx="2579294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0148" y="3108960"/>
            <a:ext cx="36576" cy="1463040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8" name="Text 16"/>
          <p:cNvSpPr/>
          <p:nvPr/>
        </p:nvSpPr>
        <p:spPr>
          <a:xfrm>
            <a:off x="6438748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5A5A5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87388" y="3355848"/>
            <a:ext cx="16648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38748" y="3886200"/>
            <a:ext cx="21220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Decidable + mechanical + heuristic checks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18041" y="3108960"/>
            <a:ext cx="2579294" cy="1463040"/>
          </a:xfrm>
          <a:prstGeom prst="rect">
            <a:avLst/>
          </a:prstGeom>
          <a:solidFill>
            <a:srgbClr val="EFEEEC"/>
          </a:solidFill>
          <a:ln w="9525">
            <a:solidFill>
              <a:srgbClr val="E6E4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18041" y="3108960"/>
            <a:ext cx="36576" cy="1463040"/>
          </a:xfrm>
          <a:prstGeom prst="rect">
            <a:avLst/>
          </a:prstGeom>
          <a:solidFill>
            <a:srgbClr val="D6D3CD"/>
          </a:solidFill>
          <a:ln/>
        </p:spPr>
      </p:sp>
      <p:sp>
        <p:nvSpPr>
          <p:cNvPr id="23" name="Text 21"/>
          <p:cNvSpPr/>
          <p:nvPr/>
        </p:nvSpPr>
        <p:spPr>
          <a:xfrm>
            <a:off x="9246641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5A5A5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795281" y="3355848"/>
            <a:ext cx="16648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46641" y="3886200"/>
            <a:ext cx="21220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Code-sync trace closes the loop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493776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3A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FIVE MODES   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vibe</a:t>
            </a:r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(solo) · 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pm</a:t>
            </a:r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(product) · 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dev</a:t>
            </a:r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(tech) · 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ux</a:t>
            </a:r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(design) · 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expert</a:t>
            </a:r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(regulated)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" y="54406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source: methodology, Skill, templates.  Paid: hosted engine, audit, compliance.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3A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39735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10029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forces.</a:t>
            </a:r>
            <a:endParaRPr lang="en-US" sz="5600" dirty="0"/>
          </a:p>
          <a:p>
            <a:pPr indent="0" marL="0">
              <a:buNone/>
            </a:pPr>
            <a:r>
              <a:rPr lang="en-US" sz="5600" b="1" i="1" spc="-200" kern="0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Same six months.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94360" y="27889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of these conditions held two years ago. All four crossed their threshold in Q1 2026.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3520440"/>
            <a:ext cx="538718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703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spc="-100" kern="0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$9B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4251960"/>
            <a:ext cx="48385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Cursor proves AI-dev-infra is a real market.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layer above is the next category.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0148" y="3520440"/>
            <a:ext cx="538718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4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4468" y="3703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spc="-100" kern="0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Mar '26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84468" y="4251960"/>
            <a:ext cx="48385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SlopCodeBench + AI-debt papers shipped.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Drift quantified for the first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5166360"/>
            <a:ext cx="538718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349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spc="-100" kern="0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GPT-5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68680" y="5897880"/>
            <a:ext cx="48385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Frontier models finally reliable for deterministic regen.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prompt, same output, every cycle.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0148" y="5166360"/>
            <a:ext cx="538718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4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4468" y="5349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spc="-100" kern="0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60% / 0–20%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84468" y="5897880"/>
            <a:ext cx="48385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Devs use AI in 60% of work; can fully delegate 0–20%.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is the new bottleneck.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3A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39735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Cursor's fight.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Cursor sells productivity to individual developers. We sell governance to engineering leaders. Different layer, different buyer, different metric.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971800"/>
            <a:ext cx="1100297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50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Cursor / Copilot / Codeium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3154680"/>
            <a:ext cx="7208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coding — chat-driven, in the IDE. Per-edit velocity.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931920"/>
            <a:ext cx="11002975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4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069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50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Kiro / Spec Kit / BMAD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4114800"/>
            <a:ext cx="7208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Spec-driven — per-feature specs. Decay between features.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892040"/>
            <a:ext cx="11002975" cy="822960"/>
          </a:xfrm>
          <a:prstGeom prst="rect">
            <a:avLst/>
          </a:prstGeom>
          <a:solidFill>
            <a:srgbClr val="FBE6EA"/>
          </a:solidFill>
          <a:ln w="12700">
            <a:solidFill>
              <a:srgbClr val="E840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4892040"/>
            <a:ext cx="54864" cy="822960"/>
          </a:xfrm>
          <a:prstGeom prst="rect">
            <a:avLst/>
          </a:prstGeom>
          <a:solidFill>
            <a:srgbClr val="E8405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29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50" kern="0" dirty="0">
                <a:solidFill>
                  <a:srgbClr val="C43A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VibeLoom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5074920"/>
            <a:ext cx="7208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Contract-driven — system-level contracts govern many cycles. Drift detected at the contract layer.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58978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We are not in the same fight as Cursor. We win by being one abstraction level up.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3A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39735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core. Tiered SaaS.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MIT-licensed methodology + Skill pulls developers in (PLG, Cursor's pattern). Paid tiers capture engineering teams that need audit, telemetry, compliance.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3108960"/>
            <a:ext cx="351525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8328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5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$0</a:t>
            </a:r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MIT-licensed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452628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devs, OSS, hobbyists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98348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+ pm modes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 + Skill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Self-hosted engine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generations / mo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8218" y="3108960"/>
            <a:ext cx="3515258" cy="2926080"/>
          </a:xfrm>
          <a:prstGeom prst="rect">
            <a:avLst/>
          </a:prstGeom>
          <a:solidFill>
            <a:srgbClr val="FBE6EA"/>
          </a:solidFill>
          <a:ln w="12700">
            <a:solidFill>
              <a:srgbClr val="E840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8218" y="3108960"/>
            <a:ext cx="54864" cy="2926080"/>
          </a:xfrm>
          <a:prstGeom prst="rect">
            <a:avLst/>
          </a:prstGeom>
          <a:solidFill>
            <a:srgbClr val="E84057"/>
          </a:solidFill>
          <a:ln/>
        </p:spPr>
      </p:sp>
      <p:sp>
        <p:nvSpPr>
          <p:cNvPr id="13" name="Text 11"/>
          <p:cNvSpPr/>
          <p:nvPr/>
        </p:nvSpPr>
        <p:spPr>
          <a:xfrm>
            <a:off x="4658258" y="338328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3A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 · RECOMMENDED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58258" y="374904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C43A5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$30</a:t>
            </a:r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/ seat / month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58258" y="452628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teams of 5–50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58258" y="498348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pm / dev / ux modes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Hosted engine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logs + drift telemetry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Unlimited generations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82077" y="3108960"/>
            <a:ext cx="351525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4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2117" y="338328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5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02117" y="374904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$50K+</a:t>
            </a:r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/ year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402117" y="452628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Mid-market &amp; enterprise (50+ eng)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02117" y="498348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mode + compliance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On-prem engine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SOC2 / HIPAA bundles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advisor seat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621792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GTM: land via individual devs (free Skill, Discord, GitHub). Expand to teams when drift becomes a P1.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3A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39735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10029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$2.2B SAM.</a:t>
            </a:r>
            <a:endParaRPr lang="en-US" sz="5600" dirty="0"/>
          </a:p>
          <a:p>
            <a:pPr indent="0" marL="0">
              <a:buNone/>
            </a:pPr>
            <a:r>
              <a:rPr lang="en-US" sz="5600" b="1" i="1" spc="-200" kern="0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Cursor proves it.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94360" y="278892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Cursor at $9B revenue/valuation proves AI-dev-infra is a real market. We sell the layer above it — to a different buyer, at a different ACV (per-team, not per-seat).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3703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Developers worldwide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9959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 Overflow Dev Survey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4206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AI coding tools (~33%)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44988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JetBrains 2025; GitHub Octoverse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4709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Multi-cycle agentic generation (~30%)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50017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cohort that hits drift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4709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" y="5212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 $720 / yr (mid-tier B2B SaaS)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5212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$720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94360" y="5852160"/>
            <a:ext cx="6995160" cy="0"/>
          </a:xfrm>
          <a:prstGeom prst="line">
            <a:avLst/>
          </a:prstGeom>
          <a:noFill/>
          <a:ln w="25400">
            <a:solidFill>
              <a:srgbClr val="E840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943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 at saturation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5897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i="1" spc="-100" kern="0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$2.2B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29600" y="3703320"/>
            <a:ext cx="33677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i="1" spc="-300" kern="0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$2.2B</a:t>
            </a:r>
            <a:endParaRPr lang="en-US" sz="8800" dirty="0"/>
          </a:p>
        </p:txBody>
      </p:sp>
      <p:sp>
        <p:nvSpPr>
          <p:cNvPr id="21" name="Text 19"/>
          <p:cNvSpPr/>
          <p:nvPr/>
        </p:nvSpPr>
        <p:spPr>
          <a:xfrm>
            <a:off x="8229600" y="493776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 saturation, B2B SaaS only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5394960"/>
            <a:ext cx="33677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$5B adjacent: </a:t>
            </a:r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 consulting, contract pattern marketplaces, audit + compliance bundles, training.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3A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39735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707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10029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today.</a:t>
            </a:r>
            <a:endParaRPr lang="en-US" sz="5600" dirty="0"/>
          </a:p>
          <a:p>
            <a:pPr indent="0" marL="0">
              <a:buNone/>
            </a:pPr>
            <a:r>
              <a:rPr lang="en-US" sz="5600" b="1" i="1" spc="-200" kern="0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Two by month six.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94360" y="278892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VCs commonly flag solo founders. The concern is fair. Q1 milestone: technical co-founder onboarded — distributed-systems / dev-infra background — by month 6.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3657600"/>
            <a:ext cx="531860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88620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5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Ilya Baimetov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4297680"/>
            <a:ext cx="476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3A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FOUNDER · AUTHOR OF CODÆ + VIBELOOM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Background. </a:t>
            </a:r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prior roles + technical depth here.
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me. 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Authored the codæ paradigm + v0.3 spec end-to-end (methodology, implementation, comparison whitepaper, 35 templates, marketing site). Built daily with frontier agents through 2025–2026; saw the slop pattern emerge in production.
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Insight. 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layer is making the contract — not the chat — the durable surface humans operate 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3657600"/>
            <a:ext cx="5318608" cy="2834640"/>
          </a:xfrm>
          <a:prstGeom prst="rect">
            <a:avLst/>
          </a:prstGeom>
          <a:solidFill>
            <a:srgbClr val="FBE6EA"/>
          </a:solidFill>
          <a:ln w="9525">
            <a:solidFill>
              <a:srgbClr val="E840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8728" y="3657600"/>
            <a:ext cx="54864" cy="2834640"/>
          </a:xfrm>
          <a:prstGeom prst="rect">
            <a:avLst/>
          </a:prstGeom>
          <a:solidFill>
            <a:srgbClr val="E84057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048" y="388620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3A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CO-FOUNDER ACQUISITION — TRACKED MILESTONE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53048" y="420624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spc="-100" kern="0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By month 6.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553048" y="4983480"/>
            <a:ext cx="476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Profile: distributed-systems / dev-infra / ex-platform-engineering. The pre-seed round itself is the team-formation forcing function — not a workaround.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53048" y="5897880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Advisors. </a:t>
            </a:r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named advisor list or design-partner pipeline here.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40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39735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D6D3C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100297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0" b="1" i="1" spc="-200" kern="0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$XXX</a:t>
            </a:r>
            <a:pPr indent="0" marL="0">
              <a:buNone/>
            </a:pPr>
            <a:r>
              <a:rPr lang="en-US" sz="6800" b="1" spc="-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 18 months.</a:t>
            </a:r>
            <a:endParaRPr lang="en-US" sz="6800" dirty="0"/>
          </a:p>
          <a:p>
            <a:pPr indent="0" marL="0">
              <a:buNone/>
            </a:pPr>
            <a:r>
              <a:rPr lang="en-US" sz="6800" b="1" spc="-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the </a:t>
            </a:r>
            <a:pPr indent="0" marL="0">
              <a:buNone/>
            </a:pPr>
            <a:r>
              <a:rPr lang="en-US" sz="6800" b="1" i="1" spc="-200" kern="0" dirty="0">
                <a:solidFill>
                  <a:srgbClr val="E8405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dark factory</a:t>
            </a:r>
            <a:pPr indent="0" marL="0">
              <a:buNone/>
            </a:pPr>
            <a:r>
              <a:rPr lang="en-US" sz="6800" b="1" spc="-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594360" y="370332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3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 v0.4  →  10 design partners  →  drift telemetry  →  Series A traction.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4343400"/>
            <a:ext cx="5318608" cy="1828800"/>
          </a:xfrm>
          <a:prstGeom prst="rect">
            <a:avLst/>
          </a:prstGeom>
          <a:solidFill>
            <a:srgbClr val="1A1A1A"/>
          </a:solidFill>
          <a:ln w="9525">
            <a:solidFill>
              <a:srgbClr val="E840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4343400"/>
            <a:ext cx="54864" cy="1828800"/>
          </a:xfrm>
          <a:prstGeom prst="rect">
            <a:avLst/>
          </a:prstGeom>
          <a:solidFill>
            <a:srgbClr val="E8405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50799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40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 OF FUNDS — 18 MONTHS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4873752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55% Engineering — </a:t>
            </a:r>
            <a:pPr indent="0" marL="0">
              <a:buNone/>
            </a:pPr>
            <a:r>
              <a:rPr lang="en-US" sz="1200" dirty="0">
                <a:solidFill>
                  <a:srgbClr val="D6D3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co-founder + 2 senior eng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 Design partners — </a:t>
            </a:r>
            <a:pPr indent="0" marL="0">
              <a:buNone/>
            </a:pPr>
            <a:r>
              <a:rPr lang="en-US" sz="1200" dirty="0">
                <a:solidFill>
                  <a:srgbClr val="D6D3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+ onboarding + telemetry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 Legal / IP / compliance — </a:t>
            </a:r>
            <a:pPr indent="0" marL="0">
              <a:buNone/>
            </a:pPr>
            <a:r>
              <a:rPr lang="en-US" sz="1200" dirty="0">
                <a:solidFill>
                  <a:srgbClr val="D6D3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entity, IP, SOC2 prep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 Buffer + ops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8728" y="4343400"/>
            <a:ext cx="5318608" cy="1828800"/>
          </a:xfrm>
          <a:prstGeom prst="rect">
            <a:avLst/>
          </a:prstGeom>
          <a:solidFill>
            <a:srgbClr val="1A1A1A"/>
          </a:solidFill>
          <a:ln w="9525">
            <a:solidFill>
              <a:srgbClr val="5A5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3048" y="450799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40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MILESTONES TO SERIES 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53048" y="4873752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40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 3  </a:t>
            </a:r>
            <a:pPr indent="0" marL="0">
              <a:buNone/>
            </a:pPr>
            <a:r>
              <a:rPr lang="en-US" sz="1200" dirty="0">
                <a:solidFill>
                  <a:srgbClr val="D6D3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 v0.4 dogfood-ready
</a:t>
            </a:r>
            <a:pPr indent="0" marL="0">
              <a:buNone/>
            </a:pPr>
            <a:r>
              <a:rPr lang="en-US" sz="1200" b="1" dirty="0">
                <a:solidFill>
                  <a:srgbClr val="E840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 6  </a:t>
            </a:r>
            <a:pPr indent="0" marL="0">
              <a:buNone/>
            </a:pPr>
            <a:r>
              <a:rPr lang="en-US" sz="1200" dirty="0">
                <a:solidFill>
                  <a:srgbClr val="D6D3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Co-founder + 5 design partners shipping
</a:t>
            </a:r>
            <a:pPr indent="0" marL="0">
              <a:buNone/>
            </a:pPr>
            <a:r>
              <a:rPr lang="en-US" sz="1200" b="1" dirty="0">
                <a:solidFill>
                  <a:srgbClr val="E840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 12 </a:t>
            </a:r>
            <a:pPr indent="0" marL="0">
              <a:buNone/>
            </a:pPr>
            <a:r>
              <a:rPr lang="en-US" sz="1200" dirty="0">
                <a:solidFill>
                  <a:srgbClr val="D6D3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paying teams + drift telemetry, 10+ codebases
</a:t>
            </a:r>
            <a:pPr indent="0" marL="0">
              <a:buNone/>
            </a:pPr>
            <a:r>
              <a:rPr lang="en-US" sz="1200" b="1" dirty="0">
                <a:solidFill>
                  <a:srgbClr val="E840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 18 </a:t>
            </a:r>
            <a:pPr indent="0" marL="0">
              <a:buNone/>
            </a:pPr>
            <a:r>
              <a:rPr lang="en-US" sz="1200" dirty="0">
                <a:solidFill>
                  <a:srgbClr val="D6D3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on trace-derived learning evidence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63550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Ilya Baimetov</a:t>
            </a:r>
            <a:pPr indent="0" marL="0">
              <a:buNone/>
            </a:pPr>
            <a:r>
              <a:rPr lang="en-US" sz="1000" spc="40" kern="0" dirty="0">
                <a:solidFill>
                  <a:srgbClr val="D6D3C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ilya.baimetov@vibeloom.ai      vibeloom.ai      github.com/ilya-baimetov/vibeloom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VibeLoom — Pitch Deck (Pre-seed, May 2026)</dc:title>
  <dc:subject>PptxGenJS Presentation</dc:subject>
  <dc:creator>Ilya Baimetov</dc:creator>
  <cp:lastModifiedBy>Ilya Baimetov</cp:lastModifiedBy>
  <cp:revision>1</cp:revision>
  <dcterms:created xsi:type="dcterms:W3CDTF">2026-05-06T07:14:18Z</dcterms:created>
  <dcterms:modified xsi:type="dcterms:W3CDTF">2026-05-06T07:14:18Z</dcterms:modified>
</cp:coreProperties>
</file>