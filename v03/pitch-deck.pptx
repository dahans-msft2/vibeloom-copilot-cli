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01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TITLE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01 — TITLE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11135" y="365760"/>
            <a:ext cx="3840480" cy="329184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9525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11135" y="42976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PRE-SEED · EWOR IDEATION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0A0A0A"/>
                </a:solidFill>
                <a:latin typeface="Inter"/>
              </a:rPr>
              <a:t>Vibe</a:t>
            </a:r>
            <a:r>
              <a:rPr sz="9600" b="1" i="0">
                <a:solidFill>
                  <a:srgbClr val="E84057"/>
                </a:solidFill>
                <a:latin typeface="Inter"/>
              </a:rPr>
              <a:t>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1">
                <a:solidFill>
                  <a:srgbClr val="1A1A1A"/>
                </a:solidFill>
                <a:latin typeface="Fraunces"/>
              </a:rPr>
              <a:t>The contract layer for </a:t>
            </a:r>
            <a:r>
              <a:rPr sz="2800" b="0" i="1">
                <a:solidFill>
                  <a:srgbClr val="E84057"/>
                </a:solidFill>
                <a:latin typeface="Fraunces"/>
              </a:rPr>
              <a:t>agentic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We build a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contract substrate</a:t>
            </a:r>
            <a:r>
              <a:rPr sz="1400" b="0" i="0">
                <a:solidFill>
                  <a:srgbClr val="3A3A3A"/>
                </a:solidFill>
                <a:latin typeface="Inter"/>
              </a:rPr>
              <a:t> so AI-generated code stays coherent across cycles. Engineering teams approve intent and architecture; agents regenerate code from approved contract; drift is detected before it 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A0A0A"/>
                </a:solidFill>
                <a:latin typeface="JetBrains Mono"/>
              </a:rPr>
              <a:t>Ilya Baimetov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, Founder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ilya.baimetov@vibeloom.ai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vibeloom.ai      </a:t>
            </a:r>
            <a:r>
              <a:rPr sz="1000" b="0" i="0">
                <a:solidFill>
                  <a:srgbClr val="5A5A5A"/>
                </a:solidFill>
                <a:latin typeface="JetBrains Mono"/>
              </a:rPr>
              <a:t>May 2026 · v0.3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02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02 —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AI is shipping code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faster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than anyone can govern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Inter"/>
              </a:rPr>
              <a:t>Engineering teams running multi-agent code-gen in production are paying a measurable tax. Existing tooling — Cursor, Copilot, Spec Kit — optimizes the moment of generation. </a:t>
            </a:r>
            <a:r>
              <a:rPr sz="1300" b="1" i="0">
                <a:solidFill>
                  <a:srgbClr val="0A0A0A"/>
                </a:solidFill>
                <a:latin typeface="Inter"/>
              </a:rPr>
              <a:t>The drift between cycles is unsolved.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400" b="1" i="1">
                <a:solidFill>
                  <a:srgbClr val="E84057"/>
                </a:solidFill>
                <a:latin typeface="Fraunces"/>
              </a:rPr>
              <a:t>22.7%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090672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Inter"/>
              </a:rPr>
              <a:t>of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tracked AI-introduced issues survive</a:t>
            </a:r>
            <a:r>
              <a:rPr sz="1400" b="0" i="0">
                <a:solidFill>
                  <a:srgbClr val="1A1A1A"/>
                </a:solidFill>
                <a:latin typeface="Inter"/>
              </a:rPr>
              <a:t> at the latest revision — across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302.6K commits</a:t>
            </a:r>
            <a:r>
              <a:rPr sz="1400" b="0" i="0">
                <a:solidFill>
                  <a:srgbClr val="1A1A1A"/>
                </a:solidFill>
                <a:latin typeface="Inter"/>
              </a:rPr>
              <a:t> in </a:t>
            </a:r>
            <a:r>
              <a:rPr sz="1400" b="1" i="0">
                <a:solidFill>
                  <a:srgbClr val="0A0A0A"/>
                </a:solidFill>
                <a:latin typeface="Inter"/>
              </a:rPr>
              <a:t>6,299 production repos</a:t>
            </a:r>
            <a:r>
              <a:rPr sz="1400" b="0" i="0">
                <a:solidFill>
                  <a:srgbClr val="1A1A1A"/>
                </a:solidFill>
                <a:latin typeface="Inter"/>
              </a:rPr>
              <a:t>.
</a:t>
            </a:r>
            <a:r>
              <a:rPr sz="900" b="0" i="0">
                <a:solidFill>
                  <a:srgbClr val="707070"/>
                </a:solidFill>
                <a:latin typeface="JetBrains Mono"/>
              </a:rPr>
              <a:t>LIU ET AL., "AI-DEBT IN THE WILD" · MAR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3–5×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short-term velocity gain from Cursor —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dissipates in 2 months,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leaving +30% warnings, +41%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CMU · MSR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8218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818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17%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6818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lower comprehension scores for AI-assisted developers —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largest decline in debugging</a:t>
            </a: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ANTHROPIC · O'REILLY · APR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6356" y="452628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6356" y="4526280"/>
            <a:ext cx="31750" cy="15544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4956" y="461772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0A0A0A"/>
                </a:solidFill>
                <a:latin typeface="Fraunces"/>
              </a:rPr>
              <a:t>60% / 0–20%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4956" y="5029200"/>
            <a:ext cx="314949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share of work that uses AI / share of tasks teams can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fully delegate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without supervision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4956" y="5852160"/>
            <a:ext cx="31494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C43A50"/>
                </a:solidFill>
                <a:latin typeface="JetBrains Mono"/>
              </a:rPr>
              <a:t>ANTHROPIC · Q1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03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SOLUTION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03 —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Move the human review surface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up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the stack — from code to contract.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Teams approve `intent`, `product`, and `architecture`. Our deterministic engine regenerates code from the approved contract every cycle. Drift surfaces in the eval ladder, not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998567" cy="237744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9525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56432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5A5A"/>
                </a:solidFill>
                <a:latin typeface="JetBrains Mono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0A0A"/>
                </a:solidFill>
                <a:latin typeface="Inter"/>
              </a:rPr>
              <a:t>Humans review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44499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1A1A1A"/>
                </a:solidFill>
                <a:latin typeface="Fraunces"/>
              </a:rPr>
              <a:t>~100,000 LOC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4449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A3A3A"/>
                </a:solidFill>
                <a:latin typeface="Inter"/>
              </a:rPr>
              <a:t>Every cycle, every contributor, every agent. Drift compounds invisibly. 22.7% of issues ship.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4367" y="42062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1">
                <a:solidFill>
                  <a:srgbClr val="E84057"/>
                </a:solidFill>
                <a:latin typeface="Fraunce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291840"/>
            <a:ext cx="4998567" cy="237744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9525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3291840"/>
            <a:ext cx="31750" cy="237744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56432"/>
            <a:ext cx="4449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WITH VIBELOOM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7947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0A0A"/>
                </a:solidFill>
                <a:latin typeface="Inter"/>
              </a:rPr>
              <a:t>Humans review the contract.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343400"/>
            <a:ext cx="44499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~30 contract items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4983480"/>
            <a:ext cx="4449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One artifact governs many cycles. Code regenerates deterministically. Drift is detected before ship.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1">
                <a:solidFill>
                  <a:srgbClr val="1A1A1A"/>
                </a:solidFill>
                <a:latin typeface="Fraunces"/>
              </a:rPr>
              <a:t>Cursor enabled </a:t>
            </a:r>
            <a:r>
              <a:rPr sz="1600" b="0" i="1">
                <a:solidFill>
                  <a:srgbClr val="E84057"/>
                </a:solidFill>
                <a:latin typeface="Fraunces"/>
              </a:rPr>
              <a:t>vibe coding.</a:t>
            </a:r>
            <a:r>
              <a:rPr sz="1600" b="0" i="1">
                <a:solidFill>
                  <a:srgbClr val="1A1A1A"/>
                </a:solidFill>
                <a:latin typeface="Fraunces"/>
              </a:rPr>
              <a:t> VibeLoom enables </a:t>
            </a:r>
            <a:r>
              <a:rPr sz="1600" b="0" i="1">
                <a:solidFill>
                  <a:srgbClr val="E84057"/>
                </a:solidFill>
                <a:latin typeface="Fraunces"/>
              </a:rPr>
              <a:t>agentic engineering.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04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WHY NOW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04 — 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Four forces converged in the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same six-month window.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2026 is the year the contract layer is both buildable and necessary. None of these conditions held two years ago.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363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36392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Cursor at $9B proves AI-dev-infra is a real market.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685032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Investors and buyers know AI coding tools are infrastructure now, not experiments. The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layer above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Cursor is the next category.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71800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313639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136392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Drift is now measurable, not anecdotal.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685032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  <a:r>
              <a:rPr sz="1000" b="1" i="0">
                <a:solidFill>
                  <a:srgbClr val="1A1A1A"/>
                </a:solidFill>
                <a:latin typeface="Inter"/>
              </a:rPr>
              <a:t>SlopCodeBench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and "AI-debt in the wild" shipped Mar 2026 — drift, erosion, and surviving defects quantified across thousands of real repos.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36008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800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6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Frontier models cross the deterministic-regen threshold.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349240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Claude Opus 4.7, GPT-5, Gemini 3 are reliable enough that regen from approved contracts converges to equivalent output.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Two years ago this didn't work.</a:t>
            </a:r>
            <a:r>
              <a:rPr sz="1000" b="0" i="0">
                <a:solidFill>
                  <a:srgbClr val="3A3A3A"/>
                </a:solidFill>
                <a:latin typeface="Inter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636008"/>
            <a:ext cx="54864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800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800600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The oversight bottleneck is the new constraint.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349240"/>
            <a:ext cx="4434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Anthropic 2026 Trends Report: developers use AI in </a:t>
            </a:r>
            <a:r>
              <a:rPr sz="1000" b="1" i="0">
                <a:solidFill>
                  <a:srgbClr val="1A1A1A"/>
                </a:solidFill>
                <a:latin typeface="Inter"/>
              </a:rPr>
              <a:t>60% of work, but can fully delegate only 0–20%.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Buyers know they need a governance layer.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05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05 —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A methodology, a Skill, and a deterministic engine.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Ships as a Claude Code / Codex Skill on day one — no install. Methodology is open source (MIT). Engine is pure Python with zero runtime dependencies. Five operating modes from solo hacker to enterprise.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5943600" cy="33832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31750" cy="6400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2666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1 · User edits intent.md + approves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0098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capabilities, constraints in plain English; approval trace recorded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76472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776472"/>
            <a:ext cx="31750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83133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2 · Engine regenerates downstream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0565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product specs · UX · architecture · code · BDD scenarios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581144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4581144"/>
            <a:ext cx="31750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3600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A1A1A"/>
                </a:solidFill>
                <a:latin typeface="JetBrains Mono"/>
              </a:rPr>
              <a:t>3 · Eval ladder runs each 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103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decidable structural · mechanical runners · heuristic semantic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385816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EFEEEC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5385816"/>
            <a:ext cx="31750" cy="64008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440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5A5A5A"/>
                </a:solidFill>
                <a:latin typeface="JetBrains Mono"/>
              </a:rPr>
              <a:t>4 · Code ships; code-sync trace closes the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715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5A5A5A"/>
                </a:solidFill>
                <a:latin typeface="Inter"/>
              </a:rPr>
              <a:t>every code path traces back to its contract item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743200"/>
            <a:ext cx="4693615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926080"/>
            <a:ext cx="4144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FIVE MODES — SAME ENGINE, DIFFERENT SURFACE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3375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vibe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33375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Solo.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Compact stack. No graph. One-way upgrade to full mode.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7947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37947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Product-led.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PM owns intent + product specs.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251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2519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Tech-led.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Dev owns intent + system specs.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091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7091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Design-led.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Designer owns intent + UX. Mockups drive product specs.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1663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expert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166360"/>
            <a:ext cx="33677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Regulated.</a:t>
            </a:r>
            <a:r>
              <a:rPr sz="1000" b="0" i="0">
                <a:solidFill>
                  <a:srgbClr val="3A3A3A"/>
                </a:solidFill>
                <a:latin typeface="Inter"/>
              </a:rPr>
              <a:t> Every approval gate explicit. Compliance-ready.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5623560"/>
            <a:ext cx="4144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5A5A"/>
                </a:solidFill>
                <a:latin typeface="JetBrains Mono"/>
              </a:rPr>
              <a:t>Open source: methodology, Skill, templates. Paid: hosted engine, audit, compliance.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06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INSIGHT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06 —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Cursor solves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generation.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We solve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coherence between generations.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Every existing tool optimizes the moment of code production. The drift problem is structural: it happens between cycles. Solving it requires a different abstraction layer — and a different buyer.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5303520" cy="274320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91840"/>
            <a:ext cx="31750" cy="274320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THE NON-OBVIOUS BET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1">
                <a:solidFill>
                  <a:srgbClr val="0A0A0A"/>
                </a:solidFill>
                <a:latin typeface="Fraunces"/>
              </a:rPr>
              <a:t>We are </a:t>
            </a:r>
            <a:r>
              <a:rPr sz="1400" b="1" i="0">
                <a:solidFill>
                  <a:srgbClr val="C43A50"/>
                </a:solidFill>
                <a:latin typeface="Inter"/>
              </a:rPr>
              <a:t>not in the same fight as Cursor</a:t>
            </a:r>
            <a:r>
              <a:rPr sz="1400" b="0" i="1">
                <a:solidFill>
                  <a:srgbClr val="0A0A0A"/>
                </a:solidFill>
                <a:latin typeface="Fraunces"/>
              </a:rPr>
              <a:t>. Cursor sells productivity to individual developers. We sell </a:t>
            </a:r>
            <a:r>
              <a:rPr sz="1400" b="1" i="0">
                <a:solidFill>
                  <a:srgbClr val="C43A50"/>
                </a:solidFill>
                <a:latin typeface="Inter"/>
              </a:rPr>
              <a:t>governance</a:t>
            </a:r>
            <a:r>
              <a:rPr sz="1400" b="0" i="1">
                <a:solidFill>
                  <a:srgbClr val="0A0A0A"/>
                </a:solidFill>
                <a:latin typeface="Fraunces"/>
              </a:rPr>
              <a:t> to engineering leaders — at a different layer of the stack, to a different buyer, with a different metric (drift caught vs. lines shipped).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91840"/>
            <a:ext cx="5333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WHERE THE VALUE CHAIN SITS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0332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79476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A0A0A"/>
                </a:solidFill>
                <a:latin typeface="JetBrains Mono"/>
              </a:rPr>
              <a:t>Cursor / Copilot / Codeium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Vibe coding — chat-driven, in the IDE. Optimizes per-edit velocity.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2628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61772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A0A0A"/>
                </a:solidFill>
                <a:latin typeface="JetBrains Mono"/>
              </a:rPr>
              <a:t>Kiro / Spec Kit / BMAD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89204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Spec-driven — per-feature specs feed agent generation. Specs decay between features.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349240"/>
            <a:ext cx="5333695" cy="713232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635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49679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43A50"/>
                </a:solidFill>
                <a:latin typeface="JetBrains Mono"/>
              </a:rPr>
              <a:t>VibeLoom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715000"/>
            <a:ext cx="49679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A1A1A"/>
                </a:solidFill>
                <a:latin typeface="Inter"/>
              </a:rPr>
              <a:t>Contract-driven — system-level contracts govern many cycles. Drift detected at the contract layer, not in code.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07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BUSINESS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07 — BUSINESS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Open-source pull.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Tiered SaaS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capture.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Methodology + Skill open under MIT pulls developers in (PLG flywheel; Cursor's pattern). Paid tiers capture engineering teams that need audit, telemetry, compliance, and on-prem.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0A0A0A"/>
                </a:solidFill>
                <a:latin typeface="Fraunces"/>
              </a:rPr>
              <a:t>$0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·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Solo developers, OSS, hobbyists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vibe + pm modes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Methodology +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Self-hosted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100 generations / month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762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2538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TEAM · RECOMMENDED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538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C43A50"/>
                </a:solidFill>
                <a:latin typeface="Fraunces"/>
              </a:rPr>
              <a:t>$30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/ seat /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2538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Engineering teams of 5–50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1138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Full pm / dev / ux modes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1138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Hosted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1138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Audit logs + drift telemetry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2538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1138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Unlimited generations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2538" y="545896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1138" y="5458968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Standard SLA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6356" y="2834640"/>
            <a:ext cx="3515258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0676" y="301752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ENTERPRISE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0676" y="3337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0A0A0A"/>
                </a:solidFill>
                <a:latin typeface="Fraunces"/>
              </a:rPr>
              <a:t>$50K+</a:t>
            </a:r>
            <a:r>
              <a:rPr sz="1000" b="0" i="0">
                <a:solidFill>
                  <a:srgbClr val="5A5A5A"/>
                </a:solidFill>
                <a:latin typeface="Inter"/>
              </a:rPr>
              <a:t> / year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0676" y="402336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Inter"/>
              </a:rPr>
              <a:t>Mid-market &amp; enterprise (50+ eng)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0676" y="443484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39276" y="4434840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expert mode + compliance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0676" y="469087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9276" y="4690872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On-prem engine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0676" y="4946904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39276" y="4946904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SOC2 / HIPAA bundles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0676" y="52029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9276" y="5202936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Advisor seat (founder access)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0676" y="545896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9276" y="5458968"/>
            <a:ext cx="27380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3A3A3A"/>
                </a:solidFill>
                <a:latin typeface="Inter"/>
              </a:rPr>
              <a:t>SSO + audit-trail export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897880"/>
            <a:ext cx="10911535" cy="50292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897880"/>
            <a:ext cx="25400" cy="50292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6016752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GTM: </a:t>
            </a:r>
            <a:r>
              <a:rPr sz="1100" b="0" i="1">
                <a:solidFill>
                  <a:srgbClr val="3A3A3A"/>
                </a:solidFill>
                <a:latin typeface="Fraunces"/>
              </a:rPr>
              <a:t>land via individual devs (free Skill, Discord, GitHub). Expand to teams when drift becomes a P1. Enterprise via design-partner referrals after 6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08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MARKET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08 —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$2.2B SAM at saturation.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Cursor's $9B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is the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If Cursor's run-rate proves the demand for AI dev infrastructure, the contract layer above it is the natural follow-on category — sold to a different buyer (CTO/VPE) at a different ACV (per-team, not per-seat).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5760720" cy="310896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BOTTOM-UP SAM, TRANSPARENT CALC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Developers worldwide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Stack Overflow Dev Survey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~30M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40325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0690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Using AI coding tools (33%)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JetBrains 2025; GitHub Octoverse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0690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~10M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44897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45262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Running multi-cycle agentic generation (30% of those)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707070"/>
                </a:solidFill>
                <a:latin typeface="JetBrains Mono"/>
              </a:rPr>
              <a:t>the cohort that hits the drift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262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~3M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" y="4946904"/>
            <a:ext cx="5212080" cy="0"/>
          </a:xfrm>
          <a:prstGeom prst="line">
            <a:avLst/>
          </a:prstGeom>
          <a:ln w="6350">
            <a:solidFill>
              <a:srgbClr val="D6D3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4983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Inter"/>
              </a:rPr>
              <a:t>Avg seat ACV (mid-tier B2B SaaS)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JetBrains Mono"/>
              </a:rPr>
              <a:t>$720 / yr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5486400"/>
            <a:ext cx="5212080" cy="0"/>
          </a:xfrm>
          <a:prstGeom prst="line">
            <a:avLst/>
          </a:prstGeom>
          <a:ln w="19050">
            <a:solidFill>
              <a:srgbClr val="E8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55321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A0A0A"/>
                </a:solidFill>
                <a:latin typeface="Inter"/>
              </a:rPr>
              <a:t>SAM at saturation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4864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1">
                <a:solidFill>
                  <a:srgbClr val="E84057"/>
                </a:solidFill>
                <a:latin typeface="Fraunces"/>
              </a:rPr>
              <a:t>$2.2B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063240"/>
            <a:ext cx="4876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1">
                <a:solidFill>
                  <a:srgbClr val="0A0A0A"/>
                </a:solidFill>
                <a:latin typeface="Fraunces"/>
              </a:rPr>
              <a:t>A new category in AI dev infrastructure.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206240"/>
            <a:ext cx="48764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3A3A3A"/>
                </a:solidFill>
                <a:latin typeface="Inter"/>
              </a:rPr>
              <a:t>Cursor's $9B revenue/valuation is the headline; Copilot, Codeium, Tabnine, Replit fill out the field. </a:t>
            </a:r>
            <a:r>
              <a:rPr sz="1100" b="1" i="0">
                <a:solidFill>
                  <a:srgbClr val="0A0A0A"/>
                </a:solidFill>
                <a:latin typeface="Inter"/>
              </a:rPr>
              <a:t>None of them sells to the buyer we sell to</a:t>
            </a:r>
            <a:r>
              <a:rPr sz="1100" b="0" i="0">
                <a:solidFill>
                  <a:srgbClr val="3A3A3A"/>
                </a:solidFill>
                <a:latin typeface="Inter"/>
              </a:rPr>
              <a:t> — the engineering leader responsible for codebase coherence over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5303520"/>
            <a:ext cx="4876495" cy="77724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75120" y="5303520"/>
            <a:ext cx="25400" cy="777240"/>
          </a:xfrm>
          <a:prstGeom prst="rect">
            <a:avLst/>
          </a:prstGeom>
          <a:solidFill>
            <a:srgbClr val="D6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5440680"/>
            <a:ext cx="44650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Adjacent expansion: $5B+.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Methodology consulting, contract pattern marketplaces, audit + compliance bundles, training. Each unlocked once trace-derived learning ships (year 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09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TEAM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09 —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Solo founder today.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Team-of-2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by month 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EWOR's stated concern about solo geniuses is fair. We treat co-founder acquisition as a tracked Q1 milestone — not glossed over. The methodology, spec, and engine shipped solo are themselves the artifact that recruits the right co-founder.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548640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A0A0A"/>
                </a:solidFill>
                <a:latin typeface="Inter"/>
              </a:rPr>
              <a:t>Ilya Baimetov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38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FOUNDER · AUTHOR OF CODÆ &amp; VIBELOOM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Background. </a:t>
            </a:r>
            <a:r>
              <a:rPr sz="900" b="1" i="0">
                <a:solidFill>
                  <a:srgbClr val="C43A50"/>
                </a:solidFill>
                <a:latin typeface="JetBrains Mono"/>
              </a:rPr>
              <a:t>[TODO · Ilya]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Prior roles, technical depth, shipped products. EWOR weights this heavily — fill before submission.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Why me.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Authored codæ paradigm and v0.3 spec end-to-end: methodology, implementation, comparison whitepaper, 35 generation-ready templates, marketing site. Built daily with frontier agents through 2025–2026; saw the slop pattern emerge in real codebases.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0A0A0A"/>
                </a:solidFill>
                <a:latin typeface="Inter"/>
              </a:rPr>
              <a:t>Insight. </a:t>
            </a:r>
            <a:r>
              <a:rPr sz="1000" b="0" i="0">
                <a:solidFill>
                  <a:srgbClr val="3A3A3A"/>
                </a:solidFill>
                <a:latin typeface="Inter"/>
              </a:rPr>
              <a:t>Cursor proved chat-driven coding works at scale. The next layer is making the contract — not the chat — the durable surface humans operate on.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Build the layer above.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971800"/>
            <a:ext cx="5150815" cy="1554480"/>
          </a:xfrm>
          <a:prstGeom prst="roundRect">
            <a:avLst>
              <a:gd name="adj" fmla="val 6000"/>
            </a:avLst>
          </a:prstGeom>
          <a:solidFill>
            <a:srgbClr val="F7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971800"/>
            <a:ext cx="31750" cy="15544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154680"/>
            <a:ext cx="4693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A5A5A"/>
                </a:solidFill>
                <a:latin typeface="JetBrains Mono"/>
              </a:rPr>
              <a:t>ON BEING SOLO (THE ELEPHANT)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20440"/>
            <a:ext cx="46936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Q1 milestone, tracked: </a:t>
            </a:r>
            <a:r>
              <a:rPr sz="1100" b="0" i="1">
                <a:solidFill>
                  <a:srgbClr val="1A1A1A"/>
                </a:solidFill>
                <a:latin typeface="Fraunces"/>
              </a:rPr>
              <a:t>technical co-founder onboarded by month 6. Profile: distributed-systems / dev-infra / ex-platform-engineering. EWOR fellowship is the team-formation forcing function — not a workaround.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63440"/>
            <a:ext cx="5150815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846320"/>
            <a:ext cx="4693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ADVISORS &amp;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212080"/>
            <a:ext cx="46936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[TODO · Ilya] </a:t>
            </a:r>
            <a:r>
              <a:rPr sz="1100" b="0" i="0">
                <a:solidFill>
                  <a:srgbClr val="3A3A3A"/>
                </a:solidFill>
                <a:latin typeface="Inter"/>
              </a:rPr>
              <a:t>Named advisor list (or "advisory list in formation, X conversations active"). Plus: design-partner pipeline of N teams currently scoping pilots.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43A50"/>
                </a:solidFill>
                <a:latin typeface="JetBrains Mono"/>
              </a:rPr>
              <a:t>10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94015" y="411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707070"/>
                </a:solidFill>
                <a:latin typeface="JetBrains Mono"/>
              </a:rPr>
              <a:t>ASK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263640"/>
            <a:ext cx="10911535" cy="0"/>
          </a:xfrm>
          <a:prstGeom prst="line">
            <a:avLst/>
          </a:prstGeom>
          <a:ln w="6350">
            <a:solidFill>
              <a:srgbClr val="E6E4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VIBELOOM.AI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707070"/>
                </a:solidFill>
                <a:latin typeface="JetBrains Mono"/>
              </a:rPr>
              <a:t>10 —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A0A0A"/>
                </a:solidFill>
                <a:latin typeface="Inter"/>
              </a:rPr>
              <a:t>EWOR </a:t>
            </a:r>
            <a:r>
              <a:rPr sz="3000" b="0" i="1">
                <a:solidFill>
                  <a:srgbClr val="E84057"/>
                </a:solidFill>
                <a:latin typeface="Fraunces"/>
              </a:rPr>
              <a:t>Ideation Fellowship.</a:t>
            </a:r>
            <a:r>
              <a:rPr sz="3000" b="1" i="0">
                <a:solidFill>
                  <a:srgbClr val="0A0A0A"/>
                </a:solidFill>
                <a:latin typeface="Inter"/>
              </a:rPr>
              <a:t> Build the contract layer for the agentic 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A3A"/>
                </a:solidFill>
                <a:latin typeface="Inter"/>
              </a:rPr>
              <a:t>No equity tuition, four-week intensive, mentor pairing. The right vehicle for the right stage. Parallel to YC W26 application and select-VC outreach (a16z, Project Europe, AI grants).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5318607" cy="2011680"/>
          </a:xfrm>
          <a:prstGeom prst="roundRect">
            <a:avLst>
              <a:gd name="adj" fmla="val 6000"/>
            </a:avLst>
          </a:prstGeom>
          <a:solidFill>
            <a:srgbClr val="FBE6EA"/>
          </a:solidFill>
          <a:ln w="7620">
            <a:solidFill>
              <a:srgbClr val="E84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108960"/>
            <a:ext cx="31750" cy="2011680"/>
          </a:xfrm>
          <a:prstGeom prst="rect">
            <a:avLst/>
          </a:prstGeom>
          <a:solidFill>
            <a:srgbClr val="E8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ASKING FROM EWOR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03320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Ideation Fellowship admission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— 4-week intensive 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3250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032504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Mentor pairing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— deeptech / dev-infra operator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Co-founder matching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— distributed-systems 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9087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90872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Design-partner intros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— eng teams running multi-agent code-gen in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108960"/>
            <a:ext cx="53186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E6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7327" y="329184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C43A50"/>
                </a:solidFill>
                <a:latin typeface="JetBrains Mono"/>
              </a:rPr>
              <a:t>WHAT WE'LL PROVE IN 4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7327" y="37033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5927" y="3703320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Engine v0.4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dogfood-ready (methodology spec → runnable Python)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032504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5927" y="4032504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3 design-partner LOIs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from production engineering teams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436168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4361688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Co-founder shortlist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— 5+ strong candidates in conversation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469087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4057"/>
                </a:solidFill>
                <a:latin typeface="JetBrains Mono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5927" y="4690872"/>
            <a:ext cx="454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A0A0A"/>
                </a:solidFill>
                <a:latin typeface="Inter"/>
              </a:rPr>
              <a:t>First drift telemetry</a:t>
            </a:r>
            <a:r>
              <a:rPr sz="1100" b="0" i="0">
                <a:solidFill>
                  <a:srgbClr val="1A1A1A"/>
                </a:solidFill>
                <a:latin typeface="Inter"/>
              </a:rPr>
              <a:t> from real-world dogfood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03520"/>
            <a:ext cx="10911535" cy="10972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504688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Cursor enabled </a:t>
            </a:r>
            <a:r>
              <a:rPr sz="1600" b="1" i="1">
                <a:solidFill>
                  <a:srgbClr val="E84057"/>
                </a:solidFill>
                <a:latin typeface="Fraunces"/>
              </a:rPr>
              <a:t>vibe coding.</a:t>
            </a:r>
            <a:r>
              <a:rPr sz="1600" b="1" i="0">
                <a:solidFill>
                  <a:srgbClr val="FFFFFF"/>
                </a:solidFill>
                <a:latin typeface="Inter"/>
              </a:rPr>
              <a:t>
VibeLoom enables </a:t>
            </a:r>
            <a:r>
              <a:rPr sz="1600" b="1" i="1">
                <a:solidFill>
                  <a:srgbClr val="E84057"/>
                </a:solidFill>
                <a:latin typeface="Fraunces"/>
              </a:rPr>
              <a:t>agentic engineering.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5504688"/>
            <a:ext cx="32305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1" i="0">
                <a:solidFill>
                  <a:srgbClr val="FFFFFF"/>
                </a:solidFill>
                <a:latin typeface="JetBrains Mono"/>
              </a:rPr>
              <a:t>Ilya Baimetov
</a:t>
            </a:r>
            <a:r>
              <a:rPr sz="1000" b="0" i="0">
                <a:solidFill>
                  <a:srgbClr val="FFFFFF"/>
                </a:solidFill>
                <a:latin typeface="JetBrains Mono"/>
              </a:rPr>
              <a:t>ilya.baimetov@vibeloom.ai
</a:t>
            </a:r>
            <a:r>
              <a:rPr sz="1000" b="0" i="0">
                <a:solidFill>
                  <a:srgbClr val="FFFFFF"/>
                </a:solidFill>
                <a:latin typeface="JetBrains Mono"/>
              </a:rPr>
              <a:t>vibeloom.ai · github.com/ilya-baimetov/vibeloom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